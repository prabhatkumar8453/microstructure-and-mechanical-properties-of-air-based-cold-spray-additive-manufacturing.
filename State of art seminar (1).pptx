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hImzDwoVI9uDl26St77SdavVFE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AE369C-1FB0-4162-BF44-8B04C36325AF}">
  <a:tblStyle styleId="{4FAE369C-1FB0-4162-BF44-8B04C36325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9793350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9793350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979335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979335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9DAF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1392150" y="3044350"/>
            <a:ext cx="63597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221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Microstructure &amp; Mechanical Properties of Air Based Cold Spray Additive Manufacturing</a:t>
            </a:r>
            <a:endParaRPr b="1" sz="221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21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21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3562" y="187473"/>
            <a:ext cx="2492325" cy="27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206650" y="3676400"/>
            <a:ext cx="5741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Abdul Rahman (2025MEM1018)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Nachiket Gavade (2025MEM1035)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Prabhat Kumar (2025MEM1052)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Palak (2023MEB1364)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5948350" y="3745750"/>
            <a:ext cx="3139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to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Harpreet Singh</a:t>
            </a:r>
            <a:b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97933505_0_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g3d997933505_0_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Spray and it’s advantages.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 Spray and it’s advantages.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of air based cold spray.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Characterization techniques.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g3d997933505_0_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457200" y="182194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Spray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457200" y="993171"/>
            <a:ext cx="8229600" cy="17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spray is an advanced surface engineering process that produces coatings by projecting heated feedstock particles which is molten or semi molten form onto a substrate at high velocity.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Upon impact, particles deform into thin lamellae and solidify, forming a dense protective or functional layer.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0121" y="2672936"/>
            <a:ext cx="4990701" cy="1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/>
          <p:nvPr/>
        </p:nvSpPr>
        <p:spPr>
          <a:xfrm>
            <a:off x="2503481" y="4756656"/>
            <a:ext cx="38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of Image:- www.thermalspray.com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1740125" y="4564526"/>
            <a:ext cx="471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Schematic of Thermal Spray process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Thermal Spray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607633" y="1432849"/>
            <a:ext cx="8350537" cy="2372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 material choice- metals, alloys, ceramics, carbides, composites.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heat effect on substrate- limited distortion and thermal damage.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surface properties- wear, corrosion, oxidation, thermal protection.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large components.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Repair and restoration capability- increases service life.</a:t>
            </a:r>
            <a:endParaRPr>
              <a:solidFill>
                <a:schemeClr val="dk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457200" y="102337"/>
            <a:ext cx="8229600" cy="52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7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Types of Thermal Spray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736626" y="43967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Ref:Li, W., Cao, C., Wang, G., Wang, F., Xu, Y., &amp; Yang, X. (2019). ‘Cold spray+’as a new hybrid additive manufacturing technology: a literature review. 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Science and Technology of Welding and Joining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(5), 420-445.</a:t>
            </a:r>
            <a:endParaRPr b="0" i="0" sz="11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50" y="694350"/>
            <a:ext cx="7364700" cy="36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 Spray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57200" y="1063225"/>
            <a:ext cx="8229600" cy="1137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 spray is a solid‑state additive manufacturing process where powder particles are accelerated to supersonic velocity and bonded by plastic deformation without melting.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375" y="2086625"/>
            <a:ext cx="6715375" cy="24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 txBox="1"/>
          <p:nvPr/>
        </p:nvSpPr>
        <p:spPr>
          <a:xfrm>
            <a:off x="402600" y="4348475"/>
            <a:ext cx="8641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https://www.researchgate.net/publication/275719112_Characterization_and_Modeling_of_the_Bonding_Process_in_Cold_Spray_Additive_Manufacturing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Advantages of Cold Spray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457200" y="846188"/>
            <a:ext cx="84243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Solid‑state process- minimal oxidation and phase change.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thermal effect- reduced distortion and residual stress.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coatings with good adhesion, low porosity and good for plastically deformable materials like Al, Cu, Ti etc.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for coating, repair and build a product.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its original feedstock properties.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Eco-friendly.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36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97933505_0_0"/>
          <p:cNvSpPr txBox="1"/>
          <p:nvPr>
            <p:ph type="title"/>
          </p:nvPr>
        </p:nvSpPr>
        <p:spPr>
          <a:xfrm>
            <a:off x="457200" y="205974"/>
            <a:ext cx="8229600" cy="105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Why we are trying for air?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3d997933505_0_0"/>
          <p:cNvSpPr txBox="1"/>
          <p:nvPr>
            <p:ph idx="1" type="body"/>
          </p:nvPr>
        </p:nvSpPr>
        <p:spPr>
          <a:xfrm>
            <a:off x="457200" y="1434500"/>
            <a:ext cx="8229600" cy="316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Simpler equipment setup.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can provide sufficient velocity for cold spray of many materials like Al, Cu, Zn.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economical.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d997933505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g3d997933505_0_0"/>
          <p:cNvSpPr txBox="1"/>
          <p:nvPr/>
        </p:nvSpPr>
        <p:spPr>
          <a:xfrm>
            <a:off x="457350" y="3286975"/>
            <a:ext cx="8229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Chances of oxidation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particle velocity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coating strength etc.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268421" y="203698"/>
            <a:ext cx="8229600" cy="928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7"/>
              <a:buNone/>
            </a:pPr>
            <a:r>
              <a:rPr lang="en" sz="3000"/>
              <a:t>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Characterization Techniques used for the analysis of the Air based Cold sprayed Deposits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9"/>
          <p:cNvSpPr txBox="1"/>
          <p:nvPr/>
        </p:nvSpPr>
        <p:spPr>
          <a:xfrm>
            <a:off x="744125" y="1351725"/>
            <a:ext cx="7606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XRD for the phase analysis</a:t>
            </a:r>
            <a:br>
              <a:rPr lang="en" sz="1800"/>
            </a:b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FE-SEM coupled EDS for the </a:t>
            </a:r>
            <a:r>
              <a:rPr lang="en" sz="1800"/>
              <a:t>m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icrostructure analysis with element analysis</a:t>
            </a:r>
            <a:b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Heat </a:t>
            </a:r>
            <a:r>
              <a:rPr lang="en" sz="1800"/>
              <a:t>t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reatment for improve the inter splat bonding and reduce the porosity</a:t>
            </a:r>
            <a:b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Scratch test for analysis the inter splat- bonding of the deposits</a:t>
            </a:r>
            <a:b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Microhardness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226208" y="8668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XRD 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226208" y="1018653"/>
            <a:ext cx="4532700" cy="3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powder shows the FCC structure with the corresponding plane (111), (200), (220), (311), (222).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sprayed sample, peaks are slightly broadened and reduced in intensity due to deformation during cold spray.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 treated peaks become sharper and more intense, indicating recovery of crystalline after heat treatment without any intermetallic formation at the selected temperature.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400" y="915317"/>
            <a:ext cx="3899600" cy="27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 txBox="1"/>
          <p:nvPr/>
        </p:nvSpPr>
        <p:spPr>
          <a:xfrm>
            <a:off x="5121458" y="3805017"/>
            <a:ext cx="38997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shows that the Al powder used for the deposition by the air-based cold spray, and as sprayed, and heat-treated sample XRD analysis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 rot="-5400000">
            <a:off x="4148975" y="1993350"/>
            <a:ext cx="1924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Intensity  (a.u)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457200" y="49700"/>
            <a:ext cx="8229600" cy="509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7"/>
              <a:buNone/>
            </a:pPr>
            <a:r>
              <a:rPr lang="en" sz="3000"/>
              <a:t> FE-SEM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Characterization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6236"/>
          <a:stretch/>
        </p:blipFill>
        <p:spPr>
          <a:xfrm>
            <a:off x="145898" y="996993"/>
            <a:ext cx="3287204" cy="21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 txBox="1"/>
          <p:nvPr/>
        </p:nvSpPr>
        <p:spPr>
          <a:xfrm>
            <a:off x="620312" y="487000"/>
            <a:ext cx="8229600" cy="3903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6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Microstructure characterization of the as deposits and the Heat treated sample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1"/>
          <p:cNvPicPr preferRelativeResize="0"/>
          <p:nvPr/>
        </p:nvPicPr>
        <p:blipFill rotWithShape="1">
          <a:blip r:embed="rId4">
            <a:alphaModFix/>
          </a:blip>
          <a:srcRect b="6371" l="0" r="0" t="0"/>
          <a:stretch/>
        </p:blipFill>
        <p:spPr>
          <a:xfrm>
            <a:off x="3433102" y="876049"/>
            <a:ext cx="1334927" cy="2116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/>
          <p:cNvPicPr preferRelativeResize="0"/>
          <p:nvPr/>
        </p:nvPicPr>
        <p:blipFill rotWithShape="1">
          <a:blip r:embed="rId5">
            <a:alphaModFix/>
          </a:blip>
          <a:srcRect b="10700" l="0" r="0" t="0"/>
          <a:stretch/>
        </p:blipFill>
        <p:spPr>
          <a:xfrm>
            <a:off x="3402825" y="3013950"/>
            <a:ext cx="1334925" cy="1067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/>
          <p:cNvPicPr preferRelativeResize="0"/>
          <p:nvPr/>
        </p:nvPicPr>
        <p:blipFill rotWithShape="1">
          <a:blip r:embed="rId6">
            <a:alphaModFix/>
          </a:blip>
          <a:srcRect b="10732" l="0" r="0" t="8804"/>
          <a:stretch/>
        </p:blipFill>
        <p:spPr>
          <a:xfrm>
            <a:off x="3396050" y="4094152"/>
            <a:ext cx="1387179" cy="99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139" y="3033447"/>
            <a:ext cx="3225694" cy="2116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1186" y="3138623"/>
            <a:ext cx="3254681" cy="1905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03080" y="933483"/>
            <a:ext cx="3352787" cy="1963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Scratch Testing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311700" y="659383"/>
            <a:ext cx="8520600" cy="12638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scratch tester machine, performing scratch test on both substrate for length of 3mm.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Velocity = 0.2 mm/s and load = 20 N.</a:t>
            </a:r>
            <a:endParaRPr/>
          </a:p>
        </p:txBody>
      </p:sp>
      <p:sp>
        <p:nvSpPr>
          <p:cNvPr id="157" name="Google Shape;1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551" y="1716594"/>
            <a:ext cx="3761949" cy="3007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 txBox="1"/>
          <p:nvPr/>
        </p:nvSpPr>
        <p:spPr>
          <a:xfrm>
            <a:off x="907427" y="4683642"/>
            <a:ext cx="291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FESEM Image of As Sprayed 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4973" y="1716593"/>
            <a:ext cx="3761949" cy="3007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8222" y="3052263"/>
            <a:ext cx="2058700" cy="1645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4555811" y="4723728"/>
            <a:ext cx="418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FESEM Image of Heat Treated (400ºC/1hr.)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79998" y="3013079"/>
            <a:ext cx="1949803" cy="1558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170115" y="174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of friction(COF)  from the scratch test of the As-sprayed and Heat treated sample.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4498" y="1712497"/>
            <a:ext cx="4854349" cy="29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5763670" y="2131039"/>
            <a:ext cx="926199" cy="1303757"/>
          </a:xfrm>
          <a:prstGeom prst="ellipse">
            <a:avLst/>
          </a:prstGeom>
          <a:noFill/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type="title"/>
          </p:nvPr>
        </p:nvSpPr>
        <p:spPr>
          <a:xfrm>
            <a:off x="311700" y="2031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Micro-hardness 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>
            <a:off x="311700" y="728657"/>
            <a:ext cx="85206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test is performed on Vickers hardness test machine.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Indent parameter - 0.3 kg load for 10 second.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3400" y="1973125"/>
            <a:ext cx="3658900" cy="259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14"/>
          <p:cNvGraphicFramePr/>
          <p:nvPr/>
        </p:nvGraphicFramePr>
        <p:xfrm>
          <a:off x="311700" y="184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{4FAE369C-1FB0-4162-BF44-8B04C36325AF}</a:tableStyleId>
              </a:tblPr>
              <a:tblGrid>
                <a:gridCol w="2318700"/>
                <a:gridCol w="2318700"/>
              </a:tblGrid>
              <a:tr h="396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Hardness Values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Sprayed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Heat Treated (400ºC/1hr.)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87.9 HV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43.2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87.9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42.6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87.9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42.6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78.5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43.8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- 85.04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- 42.84 HV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311700" y="180471"/>
            <a:ext cx="8520600" cy="562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onclusions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643030" y="4123649"/>
            <a:ext cx="7739953" cy="74921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Heat treatment effectively reduce the inter splat failure which beneficial for the corrosions and wear applications.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960900" y="934350"/>
            <a:ext cx="7984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based CSAM is able to produce dense coating with minimum oxidation and thermal damage.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H.T(400°C/1hr.) enhance inter layer bonding, as shown by the scratch track.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XRD shows that the original phase of the powder remains unchanged after coating, which proves the advantage of the solid-state process. 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 treatment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(400°C/1hr.)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the material to regain its original crystal structure, and no unwanted new phases are formed.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Acknowledge</a:t>
            </a:r>
            <a:endParaRPr/>
          </a:p>
        </p:txBody>
      </p:sp>
      <p:sp>
        <p:nvSpPr>
          <p:cNvPr id="195" name="Google Shape;195;p16"/>
          <p:cNvSpPr txBox="1"/>
          <p:nvPr>
            <p:ph idx="1" type="body"/>
          </p:nvPr>
        </p:nvSpPr>
        <p:spPr>
          <a:xfrm>
            <a:off x="311700" y="1414520"/>
            <a:ext cx="85206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CRF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 lab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lab and our group mate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Harpreet Sir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IIT Ropar</a:t>
            </a:r>
            <a:endParaRPr/>
          </a:p>
        </p:txBody>
      </p:sp>
      <p:sp>
        <p:nvSpPr>
          <p:cNvPr id="196" name="Google Shape;1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2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Pawan</dc:creator>
</cp:coreProperties>
</file>